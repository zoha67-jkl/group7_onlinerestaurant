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6"/>
  </p:notesMasterIdLst>
  <p:handoutMasterIdLst>
    <p:handoutMasterId r:id="rId17"/>
  </p:handoutMasterIdLst>
  <p:sldIdLst>
    <p:sldId id="410" r:id="rId5"/>
    <p:sldId id="383" r:id="rId6"/>
    <p:sldId id="277" r:id="rId7"/>
    <p:sldId id="391" r:id="rId8"/>
    <p:sldId id="412" r:id="rId9"/>
    <p:sldId id="408" r:id="rId10"/>
    <p:sldId id="405" r:id="rId11"/>
    <p:sldId id="404" r:id="rId12"/>
    <p:sldId id="403" r:id="rId13"/>
    <p:sldId id="414" r:id="rId14"/>
    <p:sldId id="39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8C11"/>
    <a:srgbClr val="FAF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ubair\AppData\Local\Packages\5319275A.WhatsAppDesktop_cv1g1gvanyjgm\LocalState\sessions\F49A14BC34E79703F11EFF111F1FBC737486650D\transfers\2026-01\Cheezious_Final_Project_FINAL%20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Profit_Calculations!$B$1</c:f>
              <c:strCache>
                <c:ptCount val="1"/>
                <c:pt idx="0">
                  <c:v>Final Price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Profit_Calculations!$B$2:$B$16</c:f>
              <c:numCache>
                <c:formatCode>General</c:formatCode>
                <c:ptCount val="15"/>
                <c:pt idx="0">
                  <c:v>315</c:v>
                </c:pt>
                <c:pt idx="1">
                  <c:v>266</c:v>
                </c:pt>
                <c:pt idx="2">
                  <c:v>320</c:v>
                </c:pt>
                <c:pt idx="3">
                  <c:v>405</c:v>
                </c:pt>
                <c:pt idx="4">
                  <c:v>250</c:v>
                </c:pt>
                <c:pt idx="5">
                  <c:v>722.5</c:v>
                </c:pt>
                <c:pt idx="6">
                  <c:v>810</c:v>
                </c:pt>
                <c:pt idx="7">
                  <c:v>760</c:v>
                </c:pt>
                <c:pt idx="8">
                  <c:v>765</c:v>
                </c:pt>
                <c:pt idx="9">
                  <c:v>765</c:v>
                </c:pt>
                <c:pt idx="10">
                  <c:v>427.5</c:v>
                </c:pt>
                <c:pt idx="11">
                  <c:v>495</c:v>
                </c:pt>
                <c:pt idx="12">
                  <c:v>585</c:v>
                </c:pt>
                <c:pt idx="13">
                  <c:v>400</c:v>
                </c:pt>
                <c:pt idx="14">
                  <c:v>475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71-4CA5-992A-7E0A026FF7DD}"/>
            </c:ext>
          </c:extLst>
        </c:ser>
        <c:ser>
          <c:idx val="1"/>
          <c:order val="1"/>
          <c:tx>
            <c:strRef>
              <c:f>Profit_Calculations!$C$1</c:f>
              <c:strCache>
                <c:ptCount val="1"/>
                <c:pt idx="0">
                  <c:v>Cost Price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Profit_Calculations!$C$2:$C$16</c:f>
              <c:numCache>
                <c:formatCode>General</c:formatCode>
                <c:ptCount val="15"/>
                <c:pt idx="0">
                  <c:v>220</c:v>
                </c:pt>
                <c:pt idx="1">
                  <c:v>180</c:v>
                </c:pt>
                <c:pt idx="2">
                  <c:v>200</c:v>
                </c:pt>
                <c:pt idx="3">
                  <c:v>300</c:v>
                </c:pt>
                <c:pt idx="4">
                  <c:v>120</c:v>
                </c:pt>
                <c:pt idx="5">
                  <c:v>550</c:v>
                </c:pt>
                <c:pt idx="6">
                  <c:v>600</c:v>
                </c:pt>
                <c:pt idx="7">
                  <c:v>520</c:v>
                </c:pt>
                <c:pt idx="8">
                  <c:v>560</c:v>
                </c:pt>
                <c:pt idx="9">
                  <c:v>570</c:v>
                </c:pt>
                <c:pt idx="10">
                  <c:v>280</c:v>
                </c:pt>
                <c:pt idx="11">
                  <c:v>340</c:v>
                </c:pt>
                <c:pt idx="12">
                  <c:v>400</c:v>
                </c:pt>
                <c:pt idx="13">
                  <c:v>250</c:v>
                </c:pt>
                <c:pt idx="14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71-4CA5-992A-7E0A026FF7DD}"/>
            </c:ext>
          </c:extLst>
        </c:ser>
        <c:ser>
          <c:idx val="2"/>
          <c:order val="2"/>
          <c:tx>
            <c:strRef>
              <c:f>Profit_Calculations!$D$1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Profit_Calculations!$D$2:$D$16</c:f>
              <c:numCache>
                <c:formatCode>General</c:formatCode>
                <c:ptCount val="15"/>
                <c:pt idx="0">
                  <c:v>150</c:v>
                </c:pt>
                <c:pt idx="1">
                  <c:v>200</c:v>
                </c:pt>
                <c:pt idx="2">
                  <c:v>180</c:v>
                </c:pt>
                <c:pt idx="3">
                  <c:v>160</c:v>
                </c:pt>
                <c:pt idx="4">
                  <c:v>300</c:v>
                </c:pt>
                <c:pt idx="5">
                  <c:v>140</c:v>
                </c:pt>
                <c:pt idx="6">
                  <c:v>160</c:v>
                </c:pt>
                <c:pt idx="7">
                  <c:v>150</c:v>
                </c:pt>
                <c:pt idx="8">
                  <c:v>155</c:v>
                </c:pt>
                <c:pt idx="9">
                  <c:v>145</c:v>
                </c:pt>
                <c:pt idx="10">
                  <c:v>200</c:v>
                </c:pt>
                <c:pt idx="11">
                  <c:v>180</c:v>
                </c:pt>
                <c:pt idx="12">
                  <c:v>150</c:v>
                </c:pt>
                <c:pt idx="13">
                  <c:v>220</c:v>
                </c:pt>
                <c:pt idx="14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571-4CA5-992A-7E0A026FF7DD}"/>
            </c:ext>
          </c:extLst>
        </c:ser>
        <c:ser>
          <c:idx val="3"/>
          <c:order val="3"/>
          <c:tx>
            <c:strRef>
              <c:f>Profit_Calculations!$E$1</c:f>
              <c:strCache>
                <c:ptCount val="1"/>
                <c:pt idx="0">
                  <c:v>Monthly Revenue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Profit_Calculations!$E$2:$E$16</c:f>
              <c:numCache>
                <c:formatCode>General</c:formatCode>
                <c:ptCount val="15"/>
                <c:pt idx="0">
                  <c:v>47250</c:v>
                </c:pt>
                <c:pt idx="1">
                  <c:v>53200</c:v>
                </c:pt>
                <c:pt idx="2">
                  <c:v>57600</c:v>
                </c:pt>
                <c:pt idx="3">
                  <c:v>64800</c:v>
                </c:pt>
                <c:pt idx="4">
                  <c:v>75000</c:v>
                </c:pt>
                <c:pt idx="5">
                  <c:v>101150</c:v>
                </c:pt>
                <c:pt idx="6">
                  <c:v>129600</c:v>
                </c:pt>
                <c:pt idx="7">
                  <c:v>114000</c:v>
                </c:pt>
                <c:pt idx="8">
                  <c:v>118575</c:v>
                </c:pt>
                <c:pt idx="9">
                  <c:v>110925</c:v>
                </c:pt>
                <c:pt idx="10">
                  <c:v>85500</c:v>
                </c:pt>
                <c:pt idx="11">
                  <c:v>89100</c:v>
                </c:pt>
                <c:pt idx="12">
                  <c:v>87750</c:v>
                </c:pt>
                <c:pt idx="13">
                  <c:v>88000</c:v>
                </c:pt>
                <c:pt idx="14">
                  <c:v>90250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571-4CA5-992A-7E0A026FF7DD}"/>
            </c:ext>
          </c:extLst>
        </c:ser>
        <c:ser>
          <c:idx val="4"/>
          <c:order val="4"/>
          <c:tx>
            <c:strRef>
              <c:f>Profit_Calculations!$F$1</c:f>
              <c:strCache>
                <c:ptCount val="1"/>
                <c:pt idx="0">
                  <c:v>Monthly Cost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Profit_Calculations!$F$2:$F$16</c:f>
              <c:numCache>
                <c:formatCode>General</c:formatCode>
                <c:ptCount val="15"/>
                <c:pt idx="0">
                  <c:v>33000</c:v>
                </c:pt>
                <c:pt idx="1">
                  <c:v>36000</c:v>
                </c:pt>
                <c:pt idx="2">
                  <c:v>36000</c:v>
                </c:pt>
                <c:pt idx="3">
                  <c:v>48000</c:v>
                </c:pt>
                <c:pt idx="4">
                  <c:v>36000</c:v>
                </c:pt>
                <c:pt idx="5">
                  <c:v>77000</c:v>
                </c:pt>
                <c:pt idx="6">
                  <c:v>96000</c:v>
                </c:pt>
                <c:pt idx="7">
                  <c:v>78000</c:v>
                </c:pt>
                <c:pt idx="8">
                  <c:v>86800</c:v>
                </c:pt>
                <c:pt idx="9">
                  <c:v>82650</c:v>
                </c:pt>
                <c:pt idx="10">
                  <c:v>56000</c:v>
                </c:pt>
                <c:pt idx="11">
                  <c:v>61200</c:v>
                </c:pt>
                <c:pt idx="12">
                  <c:v>60000</c:v>
                </c:pt>
                <c:pt idx="13">
                  <c:v>55000</c:v>
                </c:pt>
                <c:pt idx="14">
                  <c:v>57000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571-4CA5-992A-7E0A026FF7DD}"/>
            </c:ext>
          </c:extLst>
        </c:ser>
        <c:ser>
          <c:idx val="5"/>
          <c:order val="5"/>
          <c:tx>
            <c:strRef>
              <c:f>Profit_Calculations!$G$1</c:f>
              <c:strCache>
                <c:ptCount val="1"/>
                <c:pt idx="0">
                  <c:v>Monthly Profit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Profit_Calculations!$G$2:$G$16</c:f>
              <c:numCache>
                <c:formatCode>General</c:formatCode>
                <c:ptCount val="15"/>
                <c:pt idx="0">
                  <c:v>14250</c:v>
                </c:pt>
                <c:pt idx="1">
                  <c:v>17200</c:v>
                </c:pt>
                <c:pt idx="2">
                  <c:v>21600</c:v>
                </c:pt>
                <c:pt idx="3">
                  <c:v>16800</c:v>
                </c:pt>
                <c:pt idx="4">
                  <c:v>39000</c:v>
                </c:pt>
                <c:pt idx="5">
                  <c:v>24150</c:v>
                </c:pt>
                <c:pt idx="6">
                  <c:v>33600</c:v>
                </c:pt>
                <c:pt idx="7">
                  <c:v>36000</c:v>
                </c:pt>
                <c:pt idx="8">
                  <c:v>31775</c:v>
                </c:pt>
                <c:pt idx="9">
                  <c:v>28275</c:v>
                </c:pt>
                <c:pt idx="10">
                  <c:v>29500</c:v>
                </c:pt>
                <c:pt idx="11">
                  <c:v>27900</c:v>
                </c:pt>
                <c:pt idx="12">
                  <c:v>27750</c:v>
                </c:pt>
                <c:pt idx="13">
                  <c:v>33000</c:v>
                </c:pt>
                <c:pt idx="14">
                  <c:v>33250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571-4CA5-992A-7E0A026FF7DD}"/>
            </c:ext>
          </c:extLst>
        </c:ser>
        <c:ser>
          <c:idx val="6"/>
          <c:order val="6"/>
          <c:tx>
            <c:strRef>
              <c:f>Profit_Calculations!$H$1</c:f>
              <c:strCache>
                <c:ptCount val="1"/>
                <c:pt idx="0">
                  <c:v>Profit %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Profit_Calculations!$H$2:$H$16</c:f>
              <c:numCache>
                <c:formatCode>General</c:formatCode>
                <c:ptCount val="15"/>
                <c:pt idx="0">
                  <c:v>43.18181818181818</c:v>
                </c:pt>
                <c:pt idx="1">
                  <c:v>47.777777777777779</c:v>
                </c:pt>
                <c:pt idx="2">
                  <c:v>60</c:v>
                </c:pt>
                <c:pt idx="3">
                  <c:v>35</c:v>
                </c:pt>
                <c:pt idx="4">
                  <c:v>108.33333333333333</c:v>
                </c:pt>
                <c:pt idx="5">
                  <c:v>31.363636363636367</c:v>
                </c:pt>
                <c:pt idx="6">
                  <c:v>35</c:v>
                </c:pt>
                <c:pt idx="7">
                  <c:v>46.153846153846153</c:v>
                </c:pt>
                <c:pt idx="8">
                  <c:v>36.607142857142854</c:v>
                </c:pt>
                <c:pt idx="9">
                  <c:v>34.210526315789473</c:v>
                </c:pt>
                <c:pt idx="10">
                  <c:v>52.678571428571431</c:v>
                </c:pt>
                <c:pt idx="11">
                  <c:v>45.588235294117645</c:v>
                </c:pt>
                <c:pt idx="12">
                  <c:v>46.25</c:v>
                </c:pt>
                <c:pt idx="13">
                  <c:v>60</c:v>
                </c:pt>
                <c:pt idx="14">
                  <c:v>58.333333333333336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571-4CA5-992A-7E0A026FF7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608543616"/>
        <c:axId val="1608542176"/>
      </c:barChart>
      <c:catAx>
        <c:axId val="16085436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608542176"/>
        <c:crosses val="autoZero"/>
        <c:auto val="1"/>
        <c:lblAlgn val="ctr"/>
        <c:lblOffset val="100"/>
        <c:noMultiLvlLbl val="0"/>
      </c:catAx>
      <c:valAx>
        <c:axId val="16085421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608543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3725B-6658-690E-8773-BF17D457E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8BBEA-14E4-DE53-5EEE-9CA818675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1B0C31-ED71-2BEF-E2A3-A7F939711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80111-1439-7137-7091-9E2DE2A84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994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33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3871951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  <p:sldLayoutId id="2147483712" r:id="rId14"/>
  </p:sldLayoutIdLst>
  <p:transition spd="slow">
    <p:wipe/>
  </p:transition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Online </a:t>
            </a:r>
            <a:br>
              <a:rPr lang="en-US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Restaurant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9C9630-C0E8-6C6F-3416-17E6E49CF55D}"/>
              </a:ext>
            </a:extLst>
          </p:cNvPr>
          <p:cNvSpPr/>
          <p:nvPr/>
        </p:nvSpPr>
        <p:spPr>
          <a:xfrm>
            <a:off x="10441021" y="6099242"/>
            <a:ext cx="1750979" cy="75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Group 7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35292"/>
            <a:ext cx="6787747" cy="1593507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Group members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Afifa Zulfiqar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Zuha Usman Ghani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Hafsa Saeed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Zoha Mujahid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Musham Munir</a:t>
            </a:r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86DAC9E6-AD65-8570-5965-6BE8A8159F6D}"/>
              </a:ext>
            </a:extLst>
          </p:cNvPr>
          <p:cNvSpPr/>
          <p:nvPr/>
        </p:nvSpPr>
        <p:spPr>
          <a:xfrm rot="14331504">
            <a:off x="9534524" y="3344228"/>
            <a:ext cx="2545715" cy="2059305"/>
          </a:xfrm>
          <a:prstGeom prst="pentagon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0E79A93D-2745-8149-B671-7851CCBA0392}"/>
              </a:ext>
            </a:extLst>
          </p:cNvPr>
          <p:cNvSpPr/>
          <p:nvPr/>
        </p:nvSpPr>
        <p:spPr>
          <a:xfrm>
            <a:off x="9221758" y="5314404"/>
            <a:ext cx="922041" cy="91440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313AC4F4-D984-C82E-EB77-BC8BC9A53D2A}"/>
              </a:ext>
            </a:extLst>
          </p:cNvPr>
          <p:cNvSpPr/>
          <p:nvPr/>
        </p:nvSpPr>
        <p:spPr>
          <a:xfrm>
            <a:off x="8515339" y="3121342"/>
            <a:ext cx="922041" cy="914400"/>
          </a:xfrm>
          <a:prstGeom prst="flowChartConnecto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DEF27129-8C8A-52D8-CF2F-DE25F12EE2A8}"/>
              </a:ext>
            </a:extLst>
          </p:cNvPr>
          <p:cNvSpPr/>
          <p:nvPr/>
        </p:nvSpPr>
        <p:spPr>
          <a:xfrm>
            <a:off x="11183767" y="235292"/>
            <a:ext cx="535621" cy="585599"/>
          </a:xfrm>
          <a:prstGeom prst="flowChartConnector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iagonal Stripe 8">
            <a:extLst>
              <a:ext uri="{FF2B5EF4-FFF2-40B4-BE49-F238E27FC236}">
                <a16:creationId xmlns:a16="http://schemas.microsoft.com/office/drawing/2014/main" id="{BBD3223E-F1BA-487B-5541-4AF824CB2C93}"/>
              </a:ext>
            </a:extLst>
          </p:cNvPr>
          <p:cNvSpPr/>
          <p:nvPr/>
        </p:nvSpPr>
        <p:spPr>
          <a:xfrm>
            <a:off x="10563540" y="5669279"/>
            <a:ext cx="1628460" cy="1134021"/>
          </a:xfrm>
          <a:prstGeom prst="diagStrip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A8F32F60-6EAC-0B0C-1D37-C1FB65197B0C}"/>
              </a:ext>
            </a:extLst>
          </p:cNvPr>
          <p:cNvSpPr/>
          <p:nvPr/>
        </p:nvSpPr>
        <p:spPr>
          <a:xfrm>
            <a:off x="10287000" y="1990725"/>
            <a:ext cx="1661160" cy="1383030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01E5E78A-769C-A59C-C7C9-25D437DD1E49}"/>
              </a:ext>
            </a:extLst>
          </p:cNvPr>
          <p:cNvSpPr/>
          <p:nvPr/>
        </p:nvSpPr>
        <p:spPr>
          <a:xfrm>
            <a:off x="0" y="4672965"/>
            <a:ext cx="1661160" cy="1383030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CC9F63-A389-51F5-B0E6-4B93A86CDB56}"/>
              </a:ext>
            </a:extLst>
          </p:cNvPr>
          <p:cNvSpPr/>
          <p:nvPr/>
        </p:nvSpPr>
        <p:spPr>
          <a:xfrm>
            <a:off x="0" y="2682240"/>
            <a:ext cx="12192000" cy="268224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800" i="1" dirty="0">
                <a:solidFill>
                  <a:schemeClr val="tx1">
                    <a:lumMod val="95000"/>
                  </a:schemeClr>
                </a:solidFill>
              </a:rPr>
              <a:t>Objectives </a:t>
            </a:r>
            <a:r>
              <a:rPr lang="en-US" sz="16600" i="1" dirty="0">
                <a:solidFill>
                  <a:schemeClr val="tx1">
                    <a:lumMod val="9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612290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Website and Excel Objectives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create a simple and attractive restaurant website</a:t>
            </a: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present Cheezious food menu and services clearly</a:t>
            </a: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use Excel for storing and analyzing menu data</a:t>
            </a: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connect Excel data with website content</a:t>
            </a: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apply Excel formulas and charts</a:t>
            </a:r>
          </a:p>
          <a:p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870A-34D2-5AB2-ADB3-192FCA7A7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49649C-CCA2-9C58-69B6-D06FA639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77" y="176346"/>
            <a:ext cx="10873740" cy="1680205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Website Overview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A1B3E9-8F28-220B-780E-81C3FBCB786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59226" y="2413254"/>
            <a:ext cx="8261922" cy="37004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The Cheezious Restaurant website is designed to provide complete information to customers in a simple and user-friendly way.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The website is created using HTML and CSS.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Website Pages:</a:t>
            </a: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Home Page</a:t>
            </a:r>
          </a:p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Menu / Products Page</a:t>
            </a:r>
          </a:p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Services Page</a:t>
            </a:r>
          </a:p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Contact Page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2F51B49-BA8C-2036-6D73-2127F4F5A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32456F8-FB90-D132-4863-80504F5A6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BA355A5-A010-775E-5A19-A6C09F915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5157BC5-F91A-C5CA-9CD8-78F893C20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1926274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Demo Screenshot: Home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55375"/>
            <a:ext cx="4490827" cy="3597470"/>
          </a:xfrm>
        </p:spPr>
        <p:txBody>
          <a:bodyPr/>
          <a:lstStyle/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The Home page introduces Cheezious Restaurant with a clean layout and attractive colors.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It displays the restaurant name, tagline, and navigation menu for easy access to other pages.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Content Placeholder 5" descr="A pizza on a wooden board&#10;&#10;AI-generated content may be incorrect.">
            <a:extLst>
              <a:ext uri="{FF2B5EF4-FFF2-40B4-BE49-F238E27FC236}">
                <a16:creationId xmlns:a16="http://schemas.microsoft.com/office/drawing/2014/main" id="{F93482B4-B262-C994-CE51-0A3098F7A88C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/>
          <a:stretch>
            <a:fillRect/>
          </a:stretch>
        </p:blipFill>
        <p:spPr>
          <a:xfrm>
            <a:off x="5501640" y="1772725"/>
            <a:ext cx="5349240" cy="450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8AFE048-8396-08B4-6784-E711E2822DB3}"/>
              </a:ext>
            </a:extLst>
          </p:cNvPr>
          <p:cNvSpPr txBox="1">
            <a:spLocks/>
          </p:cNvSpPr>
          <p:nvPr/>
        </p:nvSpPr>
        <p:spPr>
          <a:xfrm>
            <a:off x="472440" y="-312237"/>
            <a:ext cx="5440679" cy="149351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800" dirty="0">
                <a:solidFill>
                  <a:schemeClr val="accent2">
                    <a:lumMod val="50000"/>
                  </a:schemeClr>
                </a:solidFill>
              </a:rPr>
              <a:t>Services Page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AE6F26E-9601-39F9-8BBF-6853479A8631}"/>
              </a:ext>
            </a:extLst>
          </p:cNvPr>
          <p:cNvSpPr txBox="1">
            <a:spLocks/>
          </p:cNvSpPr>
          <p:nvPr/>
        </p:nvSpPr>
        <p:spPr>
          <a:xfrm>
            <a:off x="640080" y="1691640"/>
            <a:ext cx="4695349" cy="28498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The Product / Services page shows Cheezious food items such as pizzas, burgers, and deals.</a:t>
            </a:r>
            <a:br>
              <a:rPr lang="en-US" sz="28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</a:b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It also highlights restaurant services including dine-in seating, takeaway, and delivery options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363FEA-9F5C-6A3B-6981-D5BC17654CF2}"/>
              </a:ext>
            </a:extLst>
          </p:cNvPr>
          <p:cNvSpPr txBox="1"/>
          <p:nvPr/>
        </p:nvSpPr>
        <p:spPr>
          <a:xfrm>
            <a:off x="7291024" y="973736"/>
            <a:ext cx="37822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The services page introduces Cheezies Restaurant with a clean layout and attractive colors.</a:t>
            </a:r>
            <a:br>
              <a:rPr lang="en-US" b="1" dirty="0">
                <a:solidFill>
                  <a:srgbClr val="FFC000"/>
                </a:solidFill>
              </a:rPr>
            </a:br>
            <a:r>
              <a:rPr lang="en-US" b="1" dirty="0">
                <a:solidFill>
                  <a:srgbClr val="FFC000"/>
                </a:solidFill>
              </a:rPr>
              <a:t>It displays the restaurant name, tagline, and navigation menu for easy access to other pages.</a:t>
            </a:r>
          </a:p>
        </p:txBody>
      </p:sp>
      <p:pic>
        <p:nvPicPr>
          <p:cNvPr id="17" name="Picture 16" descr="A screenshot of a menu&#10;&#10;AI-generated content may be incorrect.">
            <a:extLst>
              <a:ext uri="{FF2B5EF4-FFF2-40B4-BE49-F238E27FC236}">
                <a16:creationId xmlns:a16="http://schemas.microsoft.com/office/drawing/2014/main" id="{D1E8DD2A-F918-B93E-A209-175CCDF1C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572" y="3185160"/>
            <a:ext cx="5335427" cy="355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695141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Contact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6FB3A-B62C-3DAB-4FD1-B4EBDD650A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8989" y="2719205"/>
            <a:ext cx="4479397" cy="2606040"/>
          </a:xfrm>
        </p:spPr>
        <p:txBody>
          <a:bodyPr/>
          <a:lstStyle/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The Contact page provides customer contact details such as phone number, email address, and location.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It helps customers easily reach the restaurant for orders or inquiries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badi" panose="020F0502020204030204" pitchFamily="34" charset="0"/>
              </a:rPr>
              <a:t>.</a:t>
            </a:r>
          </a:p>
        </p:txBody>
      </p:sp>
      <p:pic>
        <p:nvPicPr>
          <p:cNvPr id="6" name="Content Placeholder 5" descr="A screenshot of a contact us&#10;&#10;AI-generated content may be incorrect.">
            <a:extLst>
              <a:ext uri="{FF2B5EF4-FFF2-40B4-BE49-F238E27FC236}">
                <a16:creationId xmlns:a16="http://schemas.microsoft.com/office/drawing/2014/main" id="{8C48DB6F-487B-5E6B-EFD0-B2EAD239469F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5242560" y="0"/>
            <a:ext cx="69494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Excel Data Overview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B9412C-8C95-2DFE-7A41-3E142302E061}"/>
              </a:ext>
            </a:extLst>
          </p:cNvPr>
          <p:cNvSpPr/>
          <p:nvPr/>
        </p:nvSpPr>
        <p:spPr>
          <a:xfrm>
            <a:off x="2231853" y="3429000"/>
            <a:ext cx="3239309" cy="31906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Excel is used to store menu items, prices, and category information.</a:t>
            </a:r>
            <a:b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data helps in managing and updating website content accurately.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F77D535D-9AEC-5E58-5E87-871205FADFBD}"/>
              </a:ext>
            </a:extLst>
          </p:cNvPr>
          <p:cNvSpPr/>
          <p:nvPr/>
        </p:nvSpPr>
        <p:spPr>
          <a:xfrm>
            <a:off x="1207203" y="1945533"/>
            <a:ext cx="1769461" cy="1692612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  <a:effectLst>
            <a:glow rad="101600">
              <a:schemeClr val="accent1">
                <a:satMod val="175000"/>
                <a:alpha val="40000"/>
              </a:schemeClr>
            </a:glow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Why we use excel?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1A434F-AE77-FBC2-CA2A-F5AB43852F46}"/>
              </a:ext>
            </a:extLst>
          </p:cNvPr>
          <p:cNvSpPr/>
          <p:nvPr/>
        </p:nvSpPr>
        <p:spPr>
          <a:xfrm>
            <a:off x="7745488" y="3264587"/>
            <a:ext cx="3239309" cy="31906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Excel formulas such as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SUM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AVERAGE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and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IF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are used to analyze menu prices.</a:t>
            </a:r>
            <a:b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A chart is created to show price comparison or sales summary in a visual form.</a:t>
            </a: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9472B441-FF1B-A8ED-1C90-BF4D65AC08E7}"/>
              </a:ext>
            </a:extLst>
          </p:cNvPr>
          <p:cNvSpPr/>
          <p:nvPr/>
        </p:nvSpPr>
        <p:spPr>
          <a:xfrm>
            <a:off x="6720839" y="1945533"/>
            <a:ext cx="1909379" cy="1893650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2">
                    <a:lumMod val="50000"/>
                  </a:schemeClr>
                </a:solidFill>
              </a:rPr>
              <a:t>Excel formula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6293FBC-5402-8E75-680E-F97F24F1F623}"/>
              </a:ext>
            </a:extLst>
          </p:cNvPr>
          <p:cNvCxnSpPr/>
          <p:nvPr/>
        </p:nvCxnSpPr>
        <p:spPr>
          <a:xfrm>
            <a:off x="137160" y="1772725"/>
            <a:ext cx="11917680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C84FA3-1020-4391-F44C-DB263C80E3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2FBAC0-0E68-A0BB-39DC-F6C8E9C175E7}"/>
              </a:ext>
            </a:extLst>
          </p:cNvPr>
          <p:cNvSpPr/>
          <p:nvPr/>
        </p:nvSpPr>
        <p:spPr>
          <a:xfrm>
            <a:off x="594360" y="335280"/>
            <a:ext cx="10149840" cy="14374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0027D5B4-21F8-694F-BB4D-7F1FD12FF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Excel Data Overview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BFD9383-5260-DEAC-93E2-C253FD076A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4876918"/>
              </p:ext>
            </p:extLst>
          </p:nvPr>
        </p:nvGraphicFramePr>
        <p:xfrm>
          <a:off x="1356360" y="2057400"/>
          <a:ext cx="7970520" cy="3825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3840402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169</TotalTime>
  <Words>331</Words>
  <Application>Microsoft Office PowerPoint</Application>
  <PresentationFormat>Widescreen</PresentationFormat>
  <Paragraphs>46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Abadi</vt:lpstr>
      <vt:lpstr>Arial</vt:lpstr>
      <vt:lpstr>Calibri</vt:lpstr>
      <vt:lpstr>Franklin Gothic Book</vt:lpstr>
      <vt:lpstr>Franklin Gothic Demi</vt:lpstr>
      <vt:lpstr>Custom</vt:lpstr>
      <vt:lpstr>Online  Restaurant</vt:lpstr>
      <vt:lpstr>Group members</vt:lpstr>
      <vt:lpstr>PowerPoint Presentation</vt:lpstr>
      <vt:lpstr>Website and Excel Objectives</vt:lpstr>
      <vt:lpstr>Website Overview</vt:lpstr>
      <vt:lpstr>Demo Screenshot: Home Page</vt:lpstr>
      <vt:lpstr>PowerPoint Presentation</vt:lpstr>
      <vt:lpstr>Contact Page</vt:lpstr>
      <vt:lpstr>Excel Data Overview</vt:lpstr>
      <vt:lpstr>Excel Data Overview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junaid khan</dc:creator>
  <cp:lastModifiedBy>junaid khan</cp:lastModifiedBy>
  <cp:revision>5</cp:revision>
  <dcterms:created xsi:type="dcterms:W3CDTF">2026-01-04T08:51:31Z</dcterms:created>
  <dcterms:modified xsi:type="dcterms:W3CDTF">2026-01-04T11:52:02Z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